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培訓品質管理手冊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同仁教學簡報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474720" y="3474720"/>
            <a:ext cx="219456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 培訓發展處  |  114 年第十五版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簡報大綱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698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學院沿革與培訓政策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5636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組織架構與職能分工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09397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0756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PDDRO 培訓作業循環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587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培訓需求分析與計畫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0998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開班作業流程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6118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課程表與鐘點費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41239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調派訓與學員報到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10698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10515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教師聘任與管理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1581912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15636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同步教學與數位學習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2093976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207568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認證考試制度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2606040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25877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學員成績與退訓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846320" y="3118104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30998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滿意度調查與訓後追蹤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46320" y="363016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49240" y="36118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管控、稽核與改善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學院沿革與培訓政策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1417320" cy="10515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民56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34416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電信技術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訓練中心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0515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40280" y="1051560"/>
            <a:ext cx="1417320" cy="10515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民58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34416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交通部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電信訓練所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10515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1051560"/>
            <a:ext cx="1417320" cy="10515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民85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134416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0515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3560" y="1051560"/>
            <a:ext cx="1417320" cy="10515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民97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134416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企業大學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105156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051560"/>
            <a:ext cx="1417320" cy="1051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民101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1344168"/>
            <a:ext cx="1417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學院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7440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601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培訓政策核心價值：專業至上、互動分享、追求卓越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2880360"/>
            <a:ext cx="256032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9" name="Shape 26"/>
          <p:cNvSpPr/>
          <p:nvPr/>
        </p:nvSpPr>
        <p:spPr>
          <a:xfrm>
            <a:off x="548640" y="288036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專業扎根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8580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深化專業職能，滿足核心專業與新興領域人才需求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83280" y="2880360"/>
            <a:ext cx="256032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3" name="Shape 30"/>
          <p:cNvSpPr/>
          <p:nvPr/>
        </p:nvSpPr>
        <p:spPr>
          <a:xfrm>
            <a:off x="3383280" y="288036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4" name="Text 31"/>
          <p:cNvSpPr/>
          <p:nvPr/>
        </p:nvSpPr>
        <p:spPr>
          <a:xfrm>
            <a:off x="35204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人才轉型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52044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強化跨域能力，推動職能轉型，專業與領導同步精進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17920" y="2880360"/>
            <a:ext cx="256032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7" name="Shape 34"/>
          <p:cNvSpPr/>
          <p:nvPr/>
        </p:nvSpPr>
        <p:spPr>
          <a:xfrm>
            <a:off x="6217920" y="288036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永續未來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35508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培育 ESG 永續人才：綠化低碳、數位賦能、治理透明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組織架構與職能分工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51560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6128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051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培訓發展處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31920" y="1051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統籌培訓計畫、調派訓、開班行政、成績結算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1764792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764792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17647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各學系（網路/資訊/企管）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31920" y="17647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課程規劃、教師聘任、開班計畫表建置、導師職責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478024"/>
            <a:ext cx="804672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2478024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877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247802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多元學習處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31920" y="24780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數位學習平台經營、數位教材開發與品質管理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3191256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548640" y="3191256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0098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1912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行政管理處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3931920" y="319125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教室管理、宿舍餐廳安排、場地設備維護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3904488"/>
            <a:ext cx="8046720" cy="5943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" y="3904488"/>
            <a:ext cx="54864" cy="59436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1421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3904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人力發展小組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931920" y="39044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審查年度培訓計畫、年度培訓績效追蹤與回饋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學院設有板橋院本部、台中所、高雄所三處培訓場所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PDDRO 培訓作業循環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572768" cy="301752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43000"/>
            <a:ext cx="1572768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2588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計畫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1207008" cy="274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231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年度計畫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38528" y="1143000"/>
            <a:ext cx="182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21408" y="1143000"/>
            <a:ext cx="1572768" cy="301752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1408" y="1143000"/>
            <a:ext cx="1572768" cy="54864"/>
          </a:xfrm>
          <a:prstGeom prst="rect">
            <a:avLst/>
          </a:prstGeom>
          <a:solidFill>
            <a:srgbClr val="7A9E8A"/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132588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設計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04288" y="2240280"/>
            <a:ext cx="1207008" cy="27432"/>
          </a:xfrm>
          <a:prstGeom prst="rect">
            <a:avLst/>
          </a:prstGeom>
          <a:solidFill>
            <a:srgbClr val="7A9E8A"/>
          </a:solidFill>
          <a:ln/>
        </p:spPr>
      </p:sp>
      <p:sp>
        <p:nvSpPr>
          <p:cNvPr id="17" name="Text 15"/>
          <p:cNvSpPr/>
          <p:nvPr/>
        </p:nvSpPr>
        <p:spPr>
          <a:xfrm>
            <a:off x="2212848" y="24231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課程設計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開班規劃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4176" y="1143000"/>
            <a:ext cx="182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77056" y="1143000"/>
            <a:ext cx="1572768" cy="301752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77056" y="1143000"/>
            <a:ext cx="1572768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3877056" y="132588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執行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59936" y="2240280"/>
            <a:ext cx="1207008" cy="274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3968496" y="24231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開班調訓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教學實施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9824" y="1143000"/>
            <a:ext cx="182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32704" y="1143000"/>
            <a:ext cx="1572768" cy="301752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26" name="Shape 24"/>
          <p:cNvSpPr/>
          <p:nvPr/>
        </p:nvSpPr>
        <p:spPr>
          <a:xfrm>
            <a:off x="5632704" y="1143000"/>
            <a:ext cx="1572768" cy="54864"/>
          </a:xfrm>
          <a:prstGeom prst="rect">
            <a:avLst/>
          </a:prstGeom>
          <a:solidFill>
            <a:srgbClr val="7A9E8A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704" y="132588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查核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15584" y="2240280"/>
            <a:ext cx="1207008" cy="27432"/>
          </a:xfrm>
          <a:prstGeom prst="rect">
            <a:avLst/>
          </a:prstGeom>
          <a:solidFill>
            <a:srgbClr val="7A9E8A"/>
          </a:solidFill>
          <a:ln/>
        </p:spPr>
      </p:sp>
      <p:sp>
        <p:nvSpPr>
          <p:cNvPr id="29" name="Text 27"/>
          <p:cNvSpPr/>
          <p:nvPr/>
        </p:nvSpPr>
        <p:spPr>
          <a:xfrm>
            <a:off x="5724144" y="24231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管控稽核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異常處理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05472" y="1143000"/>
            <a:ext cx="182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5042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88352" y="1143000"/>
            <a:ext cx="1572768" cy="301752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32" name="Shape 30"/>
          <p:cNvSpPr/>
          <p:nvPr/>
        </p:nvSpPr>
        <p:spPr>
          <a:xfrm>
            <a:off x="7388352" y="1143000"/>
            <a:ext cx="1572768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132588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成果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571232" y="2240280"/>
            <a:ext cx="1207008" cy="2743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5" name="Text 33"/>
          <p:cNvSpPr/>
          <p:nvPr/>
        </p:nvSpPr>
        <p:spPr>
          <a:xfrm>
            <a:off x="7479792" y="242316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成績評量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滿意度追蹤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PDDRO 循環確保培訓品質持續精進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培訓需求分析與計畫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97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8~9月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啟動規劃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依事業單位營運目標規劃課程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00584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097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10~11月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訪談需求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各學系訪談事業單位確認需求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0584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97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371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人發會審查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審查下年度培訓計畫草案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74320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12月~次年1月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需求調查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主管指派+員工上網填報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274320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37560" y="274320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次年2月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計畫核定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044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院長核定後函知各事業群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743200"/>
            <a:ext cx="2514600" cy="146304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6480" y="2743200"/>
            <a:ext cx="54864" cy="1463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28346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次年3~12月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3108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執行開班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35204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調訓作業與績效評估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需求分析考量：公司願景與經營策略、市場環境、人力資源策略、專業職能缺口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開班作業流程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年度計畫班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導師於 TIS 建置開班計畫表（每月 20 日前完成下兩月）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電子簽核：導師→單位主管→培訓發展處→副院長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班名、代號、課目須與年度計畫一致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開班前 1.5 個月發函調訓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臨時需求專案班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46320" y="14173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總公司政策指示或事業單位臨時需求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簽核流程與年度計畫班相同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需求單位提供派訓名單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導師輸入或轉請培訓發展處輸入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17720" y="1005840"/>
            <a:ext cx="0" cy="22860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開班性質分類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146304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課堂班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212848" y="3840480"/>
            <a:ext cx="1463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Text 14"/>
          <p:cNvSpPr/>
          <p:nvPr/>
        </p:nvSpPr>
        <p:spPr>
          <a:xfrm>
            <a:off x="2212848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混成班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877056" y="3840480"/>
            <a:ext cx="1463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0" name="Text 16"/>
          <p:cNvSpPr/>
          <p:nvPr/>
        </p:nvSpPr>
        <p:spPr>
          <a:xfrm>
            <a:off x="3877056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遠距班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541264" y="3840480"/>
            <a:ext cx="1463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2" name="Text 18"/>
          <p:cNvSpPr/>
          <p:nvPr/>
        </p:nvSpPr>
        <p:spPr>
          <a:xfrm>
            <a:off x="5541264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純直播班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205472" y="3840480"/>
            <a:ext cx="1463040" cy="5029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4" name="Text 20"/>
          <p:cNvSpPr/>
          <p:nvPr/>
        </p:nvSpPr>
        <p:spPr>
          <a:xfrm>
            <a:off x="7205472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e 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課程表編排與鐘點費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課程表編排要點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完全依照開班計畫表，不得任意更動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先洽詢教師時間，避免衝堂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院外教師盡量安排整天或半天授課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實習課教師至多 3 人，超過需院長核准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鐘點費支給標準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講課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1,000~3,000 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折半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內聘兼任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專題演講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2,000~3,000 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9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3291840"/>
            <a:ext cx="8046720" cy="105156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9"/>
          <p:cNvSpPr/>
          <p:nvPr/>
        </p:nvSpPr>
        <p:spPr>
          <a:xfrm>
            <a:off x="548640" y="3291840"/>
            <a:ext cx="80467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0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鐘點費作業重點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每月作業兩次，透過 TIS 系統自動核算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外聘 ≥1,000 元/時需簽報院長；轉帳戶名須與教師姓名完全相符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培訓師超鐘點費：全年授課達 250 小時以上方支給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調派訓與學員報到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年度計畫班：開班前 1.5 個月發送參訓報名表，同仁上網報名或主管指派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臨時專案班：需求單位提供名單→導師輸入 TIS 系統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開班前二週系統自動確認名單並發送報到通知單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 10 人班次：導師簽註「照開/取消/延期」回覆培訓發展處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報到方式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560320" cy="10972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15468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院所內報到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識別證刷卡或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感應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154680"/>
            <a:ext cx="2560320" cy="10972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315468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院所外報到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學員現場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簽名報到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154680"/>
            <a:ext cx="2560320" cy="109728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154680"/>
            <a:ext cx="256032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直播課程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學院網站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線上報到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報到完成後系統發送簡訊；每日通知未報到學員之主管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教師聘任與管理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1417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54864" cy="14173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1556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初聘教師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填寫內/外聘教師資料表→TIS 建置→送培訓發展處簽收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3840480" cy="1417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005840"/>
            <a:ext cx="54864" cy="14173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1556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續聘教師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37760" y="1508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滿意度低於 5.0 不續聘；低於 5.3 需單位主管核定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3840480" cy="1417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8" name="Shape 14"/>
          <p:cNvSpPr/>
          <p:nvPr/>
        </p:nvSpPr>
        <p:spPr>
          <a:xfrm>
            <a:off x="548640" y="2697480"/>
            <a:ext cx="54864" cy="14173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07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770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聘任原則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3152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院內師資優先→公司內部專長同仁→外部師資；避免集中少數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2697480"/>
            <a:ext cx="3840480" cy="14173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3" name="Shape 18"/>
          <p:cNvSpPr/>
          <p:nvPr/>
        </p:nvSpPr>
        <p:spPr>
          <a:xfrm>
            <a:off x="4754880" y="2697480"/>
            <a:ext cx="54864" cy="14173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0720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2770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教師用餐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93776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第一節有授課免費用早餐、第四節授課免費用午餐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同步教學與數位學習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338328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3840480" cy="54864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同步教學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遠距教學：老師在學院，學員在全區視訊教室上課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直播教學：Teams 平台，學員電腦/行動裝置上課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視訊中央控制系統集中管理各教室設備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 小時精簡直播，減少交通時間與經費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840480" cy="3383280"/>
          </a:xfrm>
          <a:prstGeom prst="rect">
            <a:avLst/>
          </a:prstGeom>
          <a:solidFill>
            <a:srgbClr val="3B425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數位學習 eLearning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自學網 elearning.cht.com.tw，LDAP 登入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五大專業類別：網路/資訊/經管/業務/研發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三種模式：知識分享、自我學習、混成教學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綜合測驗及格標準 70 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教材需符合經濟規模（≥200 人、≥2 年）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認證考試制度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學院認證 = {領域分類} × {職能分類} × {範圍分類}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840480" cy="9601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90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認證等級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初階、中階、高階共三級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3840480" cy="9601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41732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904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評分方式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筆試、術科、報告撰寫、口試等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840480" cy="9601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0604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學程認證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計畫書→培訓→測試→發照→Re-new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606040"/>
            <a:ext cx="3840480" cy="9601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606040"/>
            <a:ext cx="54864" cy="9601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品質檢核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通過率超 85% 需提供佐證說明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學以致用獎：提報計畫獎（300點）→ 應用成果獎（3,000~5,000點）→ 貢獻獎（1~3萬元+獎座）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學員成績評量與退訓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成績評量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評量方法：筆試、實做、作業、演練、發表等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教師評定→導師 TIS 輸入→每月結算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學員個人成績單、紀錄保留三年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每月上傳結訓資料至公司人力資源系統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退訓條件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46320" y="14173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缺課累計超過全期總時數 1/3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患有傳染病或重病不宜繼續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違反紀律情節嚴重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個人因素自請退訓需告知導師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送訓單位緊急召回需出具書面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17720" y="1005840"/>
            <a:ext cx="0" cy="210312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291840"/>
            <a:ext cx="8046720" cy="1188720"/>
          </a:xfrm>
          <a:prstGeom prst="rect">
            <a:avLst/>
          </a:prstGeom>
          <a:solidFill>
            <a:srgbClr val="F5F0EB"/>
          </a:solidFill>
          <a:ln/>
        </p:spPr>
      </p:sp>
      <p:sp>
        <p:nvSpPr>
          <p:cNvPr id="15" name="Shape 11"/>
          <p:cNvSpPr/>
          <p:nvPr/>
        </p:nvSpPr>
        <p:spPr>
          <a:xfrm>
            <a:off x="548640" y="3291840"/>
            <a:ext cx="8046720" cy="4572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宿舍與餐廳安排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37033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遠地學員由 TIS 自動預排宿舍（兩人一室為原則）；住宿以分配會館為原則，識別證/IC 卡為房卡。午餐十人一桌預排，導師與學員同桌。早晚餐中式自助，晚餐需上課至 17:20 方提供。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48691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滿意度調查、訓後追蹤與管控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560320" cy="3337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1887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培訓滿意度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1945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結訓日網路問卷調查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依抽樣原則進行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意見電子簽核處理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統計報表於 TIS 查詢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005840"/>
            <a:ext cx="2560320" cy="3337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訓後追蹤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21945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結訓後 3 個月追蹤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問卷對象為直屬主管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評核行為改變與應用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學程認證班客製化題目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005840"/>
            <a:ext cx="2560320" cy="3337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9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管控與稽核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21945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開班/師資/教室異常處理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 10~11 月內控自檢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每年初稽核抽核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缺失追蹤至改善結案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品質循環：滿意度統計 → 意見回饋處理 → 培訓改善行動 → 人發會議檢討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重點回顧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8691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中華電信學院 培訓品質管理手冊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0" y="48691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9202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PDDRO 循環確保品質：從需求分析到績效追蹤，環環相扣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000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 系統為核心平台：開班、調訓、成績、鐘點費全面 e 化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3405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26883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導師是關鍵角色：開班計畫、教師聘任、課程編排、教室日誌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11810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0723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多元學習管道並進：課堂、遠距、直播、全 e 班靈活運用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0215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34564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學程認證提升專業：L2/L3 評量 + 學以致用獎勵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8620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3840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持續改善不間斷：滿意度 → 訓後追蹤 → 內控稽核 → 精進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2286000" y="4160520"/>
            <a:ext cx="45720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2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如有疑問，歡迎聯繫培訓發展處  (02) 2963-9307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培訓品質管理手冊 同仁教學簡報</dc:title>
  <dc:subject>PptxGenJS Presentation</dc:subject>
  <dc:creator>中華電信學院</dc:creator>
  <cp:lastModifiedBy>中華電信學院</cp:lastModifiedBy>
  <cp:revision>1</cp:revision>
  <dcterms:created xsi:type="dcterms:W3CDTF">2026-03-24T02:04:40Z</dcterms:created>
  <dcterms:modified xsi:type="dcterms:W3CDTF">2026-03-24T02:04:40Z</dcterms:modified>
</cp:coreProperties>
</file>